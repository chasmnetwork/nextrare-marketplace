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01 ·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/>
            </a:r>
            <a:r>
              <a:rPr sz="4000" b="1">
                <a:solidFill>
                  <a:srgbClr val="FF734C"/>
                </a:solidFill>
                <a:latin typeface="Sora"/>
              </a:rPr>
              <a:t/>
            </a:r>
          </a:p>
        </p:txBody>
      </p:sp>
      <p:pic>
        <p:nvPicPr>
          <p:cNvPr id="5" name="Picture 4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432054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2286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A trading card show </a:t>
            </a:r>
            <a:r>
              <a:rPr sz="4000" b="1">
                <a:solidFill>
                  <a:srgbClr val="FF734C"/>
                </a:solidFill>
                <a:latin typeface="Sora"/>
              </a:rPr>
              <a:t>at your fingertips.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1A1AA"/>
                </a:solidFill>
                <a:latin typeface="Sora"/>
              </a:rPr>
              <a:t>Marketplace and gacha in one. List a card once, sell it two ways, earn while it waits.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1A1AA"/>
                </a:solidFill>
                <a:latin typeface="Sora"/>
              </a:rPr>
              <a:t>KC Thee, Li Ho  ·  live on Solana devnet  ·  built at Startup Village Borneo, Sept 6–8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734C"/>
                </a:solidFill>
                <a:latin typeface="Sora"/>
              </a:rPr>
              <a:t>nextrare-marketplace.vercel.app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804672"/>
            <a:ext cx="1728216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02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List. Wait. </a:t>
            </a:r>
            <a:r>
              <a:rPr sz="4000" b="1">
                <a:solidFill>
                  <a:srgbClr val="FF734C"/>
                </a:solidFill>
                <a:latin typeface="Sora"/>
              </a:rPr>
              <a:t>Hope.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149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0">
                <a:solidFill>
                  <a:srgbClr val="F4F4F5"/>
                </a:solidFill>
                <a:latin typeface="Sora"/>
              </a:rPr>
              <a:t>Card demand never switches off, it moves between formats: Web2 marketplaces, tokenised cards, onchain gacha, thousands of local shops. Nothing connects them.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0">
                <a:solidFill>
                  <a:srgbClr val="F4F4F5"/>
                </a:solidFill>
                <a:latin typeface="Sora"/>
              </a:rPr>
              <a:t>A collector who lists a graded card at a fair price waits weeks. The only fast exit is selling under market.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0">
                <a:solidFill>
                  <a:srgbClr val="F4F4F5"/>
                </a:solidFill>
                <a:latin typeface="Sora"/>
              </a:rPr>
              <a:t>While it waits, the card earns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804672"/>
            <a:ext cx="1728216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03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List once. </a:t>
            </a:r>
            <a:r>
              <a:rPr sz="4000" b="1">
                <a:solidFill>
                  <a:srgbClr val="FF734C"/>
                </a:solidFill>
                <a:latin typeface="Sora"/>
              </a:rPr>
              <a:t>Sell two 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149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0">
                <a:solidFill>
                  <a:srgbClr val="F4F4F5"/>
                </a:solidFill>
                <a:latin typeface="Sora"/>
              </a:rPr>
              <a:t>Your card is buyable at your price, and sits inside a gacha pack at the same time.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0">
                <a:solidFill>
                  <a:srgbClr val="F4F4F5"/>
                </a:solidFill>
                <a:latin typeface="Sora"/>
              </a:rPr>
              <a:t>A ripper keeps it: you get full price, instantly. A ripper takes cash instead: your card stays, and you get paid rent for waiting.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0">
                <a:solidFill>
                  <a:srgbClr val="F4F4F5"/>
                </a:solidFill>
                <a:latin typeface="Sora"/>
              </a:rPr>
              <a:t>The card never leaves your wallet. A Metaplex Core freeze plugin holds it, not us.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0">
                <a:solidFill>
                  <a:srgbClr val="F4F4F5"/>
                </a:solidFill>
                <a:latin typeface="Sora"/>
              </a:rPr>
              <a:t>This is the onchain version of the stake-to-earn layer inside NextRare, the gacha we already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804672"/>
            <a:ext cx="1728216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04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Sixty seconds, </a:t>
            </a:r>
            <a:r>
              <a:rPr sz="4000" b="1">
                <a:solidFill>
                  <a:srgbClr val="FF734C"/>
                </a:solidFill>
                <a:latin typeface="Sora"/>
              </a:rPr>
              <a:t>no signup.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149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734C"/>
                </a:solidFill>
                <a:latin typeface="Sora"/>
              </a:rPr>
              <a:t>1.  </a:t>
            </a:r>
            <a:r>
              <a:rPr sz="1900" b="0">
                <a:solidFill>
                  <a:srgbClr val="F4F4F5"/>
                </a:solidFill>
                <a:latin typeface="Sora"/>
              </a:rPr>
              <a:t>Connect Phantom on devnet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1">
                <a:solidFill>
                  <a:srgbClr val="FF734C"/>
                </a:solidFill>
                <a:latin typeface="Sora"/>
              </a:rPr>
              <a:t>2.  </a:t>
            </a:r>
            <a:r>
              <a:rPr sz="1900" b="0">
                <a:solidFill>
                  <a:srgbClr val="F4F4F5"/>
                </a:solidFill>
                <a:latin typeface="Sora"/>
              </a:rPr>
              <a:t>Tap “Get free cards”: two slabs land in your wallet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1">
                <a:solidFill>
                  <a:srgbClr val="FF734C"/>
                </a:solidFill>
                <a:latin typeface="Sora"/>
              </a:rPr>
              <a:t>3.  </a:t>
            </a:r>
            <a:r>
              <a:rPr sz="1900" b="0">
                <a:solidFill>
                  <a:srgbClr val="F4F4F5"/>
                </a:solidFill>
                <a:latin typeface="Sora"/>
              </a:rPr>
              <a:t>List one. It is on sale and in a pack at once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1">
                <a:solidFill>
                  <a:srgbClr val="FF734C"/>
                </a:solidFill>
                <a:latin typeface="Sora"/>
              </a:rPr>
              <a:t>4.  </a:t>
            </a:r>
            <a:r>
              <a:rPr sz="1900" b="0">
                <a:solidFill>
                  <a:srgbClr val="F4F4F5"/>
                </a:solidFill>
                <a:latin typeface="Sora"/>
              </a:rPr>
              <a:t>Rip a pack. Keep the card, or take 85% cash now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1">
                <a:solidFill>
                  <a:srgbClr val="FF734C"/>
                </a:solidFill>
                <a:latin typeface="Sora"/>
              </a:rPr>
              <a:t>5.  </a:t>
            </a:r>
            <a:r>
              <a:rPr sz="1900" b="0">
                <a:solidFill>
                  <a:srgbClr val="F4F4F5"/>
                </a:solidFill>
                <a:latin typeface="Sora"/>
              </a:rPr>
              <a:t>Watch rent land in “My cards &amp; earnings”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734C"/>
                </a:solidFill>
                <a:latin typeface="Sora"/>
              </a:rPr>
              <a:t>nextrare-marketplace.vercel.app   ·   nextrare-marketplace.vercel.app/traction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804672"/>
            <a:ext cx="1728216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05 · TRACTION &amp;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The gacha already </a:t>
            </a:r>
            <a:r>
              <a:rPr sz="4000" b="1">
                <a:solidFill>
                  <a:srgbClr val="FF734C"/>
                </a:solidFill>
                <a:latin typeface="Sora"/>
              </a:rPr>
              <a:t>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1A1AA"/>
                </a:solidFill>
                <a:latin typeface="Sora"/>
              </a:rPr>
              <a:t>NextRare gacha, live since January 2026  ·  8 months  ·  no paid acquisition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65176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9525">
            <a:solidFill>
              <a:srgbClr val="2A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81635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4F5"/>
                </a:solidFill>
                <a:latin typeface="Sora"/>
              </a:rPr>
              <a:t>$1.26M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29000"/>
            <a:ext cx="2889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gross merchandise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65176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9525">
            <a:solidFill>
              <a:srgbClr val="2A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81635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4F5"/>
                </a:solidFill>
                <a:latin typeface="Sora"/>
              </a:rPr>
              <a:t>$836k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3429000"/>
            <a:ext cx="2889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transaction volume · 8,074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65176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9525">
            <a:solidFill>
              <a:srgbClr val="2A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281635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4F5"/>
                </a:solidFill>
                <a:latin typeface="Sora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3429000"/>
            <a:ext cx="2889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paying users · 2,537 signed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02336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9525">
            <a:solidFill>
              <a:srgbClr val="2A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18795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4F5"/>
                </a:solidFill>
                <a:latin typeface="Sora"/>
              </a:rPr>
              <a:t>$3,265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4800600"/>
            <a:ext cx="2889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volume per paying 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02336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9525">
            <a:solidFill>
              <a:srgbClr val="2A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418795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4F5"/>
                </a:solidFill>
                <a:latin typeface="Sora"/>
              </a:rPr>
              <a:t>$427k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4800600"/>
            <a:ext cx="2889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cash returned on sell-backs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02336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9525">
            <a:solidFill>
              <a:srgbClr val="2A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418795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4F5"/>
                </a:solidFill>
                <a:latin typeface="Sora"/>
              </a:rPr>
              <a:t>1,046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800600"/>
            <a:ext cx="2889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packs opened in the offline pilot since May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80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1A1AA"/>
                </a:solidFill>
                <a:latin typeface="Sora"/>
              </a:rPr>
              <a:t>•  </a:t>
            </a:r>
            <a:r>
              <a:rPr sz="1300" b="0">
                <a:solidFill>
                  <a:srgbClr val="F4F4F5"/>
                </a:solidFill>
                <a:latin typeface="Sora"/>
              </a:rPr>
              <a:t>A typical cycle: pull a card worth </a:t>
            </a:r>
            <a:r>
              <a:rPr sz="1300" b="1">
                <a:solidFill>
                  <a:srgbClr val="F4F4F5"/>
                </a:solidFill>
                <a:latin typeface="Sora"/>
              </a:rPr>
              <a:t>$42</a:t>
            </a:r>
            <a:r>
              <a:rPr sz="1300" b="0">
                <a:solidFill>
                  <a:srgbClr val="F4F4F5"/>
                </a:solidFill>
                <a:latin typeface="Sora"/>
              </a:rPr>
              <a:t>, sell it back for </a:t>
            </a:r>
            <a:r>
              <a:rPr sz="1300" b="1">
                <a:solidFill>
                  <a:srgbClr val="F4F4F5"/>
                </a:solidFill>
                <a:latin typeface="Sora"/>
              </a:rPr>
              <a:t>$38</a:t>
            </a:r>
            <a:r>
              <a:rPr sz="1300" b="0">
                <a:solidFill>
                  <a:srgbClr val="F4F4F5"/>
                </a:solidFill>
                <a:latin typeface="Sora"/>
              </a:rPr>
              <a:t>. </a:t>
            </a:r>
            <a:r>
              <a:rPr sz="1300" b="1">
                <a:solidFill>
                  <a:srgbClr val="F4F4F5"/>
                </a:solidFill>
                <a:latin typeface="Sora"/>
              </a:rPr>
              <a:t>86%</a:t>
            </a:r>
            <a:r>
              <a:rPr sz="1300" b="0">
                <a:solidFill>
                  <a:srgbClr val="F4F4F5"/>
                </a:solidFill>
                <a:latin typeface="Sora"/>
              </a:rPr>
              <a:t> of cards are sold back, so inventory recycles instead of shipping out.</a:t>
            </a:r>
          </a:p>
          <a:p>
            <a:pPr algn="l">
              <a:lnSpc>
                <a:spcPct val="120000"/>
              </a:lnSpc>
              <a:spcBef>
                <a:spcPts val="585"/>
              </a:spcBef>
            </a:pPr>
            <a:r>
              <a:rPr sz="1300" b="0">
                <a:solidFill>
                  <a:srgbClr val="A1A1AA"/>
                </a:solidFill>
                <a:latin typeface="Sora"/>
              </a:rPr>
              <a:t>•  </a:t>
            </a:r>
            <a:r>
              <a:rPr sz="1300" b="0">
                <a:solidFill>
                  <a:srgbClr val="F4F4F5"/>
                </a:solidFill>
                <a:latin typeface="Sora"/>
              </a:rPr>
              <a:t>This marketplace: </a:t>
            </a:r>
            <a:r>
              <a:rPr sz="1300" b="1">
                <a:solidFill>
                  <a:srgbClr val="F4F4F5"/>
                </a:solidFill>
                <a:latin typeface="Sora"/>
              </a:rPr>
              <a:t>2%</a:t>
            </a:r>
            <a:r>
              <a:rPr sz="1300" b="0">
                <a:solidFill>
                  <a:srgbClr val="F4F4F5"/>
                </a:solidFill>
                <a:latin typeface="Sora"/>
              </a:rPr>
              <a:t> on direct buys. On a cash-out the ripper gets </a:t>
            </a:r>
            <a:r>
              <a:rPr sz="1300" b="1">
                <a:solidFill>
                  <a:srgbClr val="F4F4F5"/>
                </a:solidFill>
                <a:latin typeface="Sora"/>
              </a:rPr>
              <a:t>85%</a:t>
            </a:r>
            <a:r>
              <a:rPr sz="1300" b="0">
                <a:solidFill>
                  <a:srgbClr val="F4F4F5"/>
                </a:solidFill>
                <a:latin typeface="Sora"/>
              </a:rPr>
              <a:t>, the 15% gap is profit, </a:t>
            </a:r>
            <a:r>
              <a:rPr sz="1300" b="1">
                <a:solidFill>
                  <a:srgbClr val="F4F4F5"/>
                </a:solidFill>
                <a:latin typeface="Sora"/>
              </a:rPr>
              <a:t>split 50/50</a:t>
            </a:r>
            <a:r>
              <a:rPr sz="1300" b="0">
                <a:solidFill>
                  <a:srgbClr val="F4F4F5"/>
                </a:solidFill>
                <a:latin typeface="Sora"/>
              </a:rPr>
              <a:t> with the sellers in that pack.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804672"/>
            <a:ext cx="1728216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06 · MARKET · WHY NOW · WHY SOLANA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Validated in the West. </a:t>
            </a:r>
            <a:r>
              <a:rPr sz="4000" b="1">
                <a:solidFill>
                  <a:srgbClr val="FF734C"/>
                </a:solidFill>
                <a:latin typeface="Sora"/>
              </a:rPr>
              <a:t>Empty in SEA.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149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A1A1AA"/>
                </a:solidFill>
                <a:latin typeface="Sora"/>
              </a:rPr>
              <a:t>•  </a:t>
            </a:r>
            <a:r>
              <a:rPr sz="1800" b="0">
                <a:solidFill>
                  <a:srgbClr val="F4F4F5"/>
                </a:solidFill>
                <a:latin typeface="Sora"/>
              </a:rPr>
              <a:t>Collector Crypt did ~$153M of gacha spend in Q1 2026. Courtyard went from $50k to ~$50M a month. Beezie has $170M+ cumulative GMV. All Western, online only, single brand.</a:t>
            </a:r>
          </a:p>
          <a:p>
            <a:pPr algn="l">
              <a:lnSpc>
                <a:spcPct val="120000"/>
              </a:lnSpc>
              <a:spcBef>
                <a:spcPts val="810"/>
              </a:spcBef>
            </a:pPr>
            <a:r>
              <a:rPr sz="1800" b="0">
                <a:solidFill>
                  <a:srgbClr val="A1A1AA"/>
                </a:solidFill>
                <a:latin typeface="Sora"/>
              </a:rPr>
              <a:t>•  </a:t>
            </a:r>
            <a:r>
              <a:rPr sz="1800" b="0">
                <a:solidFill>
                  <a:srgbClr val="F4F4F5"/>
                </a:solidFill>
                <a:latin typeface="Sora"/>
              </a:rPr>
              <a:t>Southeast Asia is the fastest-growing TCG market, deep collector culture, dense card-shop networks, and no aggregated hybrid platform.</a:t>
            </a:r>
          </a:p>
          <a:p>
            <a:pPr algn="l">
              <a:lnSpc>
                <a:spcPct val="120000"/>
              </a:lnSpc>
              <a:spcBef>
                <a:spcPts val="810"/>
              </a:spcBef>
            </a:pPr>
            <a:r>
              <a:rPr sz="1800" b="0">
                <a:solidFill>
                  <a:srgbClr val="A1A1AA"/>
                </a:solidFill>
                <a:latin typeface="Sora"/>
              </a:rPr>
              <a:t>•  </a:t>
            </a:r>
            <a:r>
              <a:rPr sz="1800" b="0">
                <a:solidFill>
                  <a:srgbClr val="F4F4F5"/>
                </a:solidFill>
                <a:latin typeface="Sora"/>
              </a:rPr>
              <a:t>Why Solana: non-custodial listings via Core plugins, one-transaction settlement, fees in cents so a $5 pack works, and every roll provable from the payment transaction.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804672"/>
            <a:ext cx="1728216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07 ·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One listing, </a:t>
            </a:r>
            <a:r>
              <a:rPr sz="4000" b="1">
                <a:solidFill>
                  <a:srgbClr val="FF734C"/>
                </a:solidFill>
                <a:latin typeface="Sora"/>
              </a:rPr>
              <a:t>both exits.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149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1">
                <a:solidFill>
                  <a:srgbClr val="F4F4F5"/>
                </a:solidFill>
                <a:latin typeface="Sora"/>
              </a:rPr>
              <a:t>Collector Crypt · Courtyard · Beezie · OpenGacha</a:t>
            </a:r>
            <a:r>
              <a:rPr sz="1900" b="0">
                <a:solidFill>
                  <a:srgbClr val="F4F4F5"/>
                </a:solidFill>
                <a:latin typeface="Sora"/>
              </a:rPr>
              <a:t>: buy their own players, hold their own inventory, one exit per listing, sellers earn nothing while they wait.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1">
                <a:solidFill>
                  <a:srgbClr val="F4F4F5"/>
                </a:solidFill>
                <a:latin typeface="Sora"/>
              </a:rPr>
              <a:t>Tensor · Magic Eden</a:t>
            </a:r>
            <a:r>
              <a:rPr sz="1900" b="0">
                <a:solidFill>
                  <a:srgbClr val="F4F4F5"/>
                </a:solidFill>
                <a:latin typeface="Sora"/>
              </a:rPr>
              <a:t>: fixed price only, idle listings earn nothing.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1">
                <a:solidFill>
                  <a:srgbClr val="F4F4F5"/>
                </a:solidFill>
                <a:latin typeface="Sora"/>
              </a:rPr>
              <a:t>Us</a:t>
            </a:r>
            <a:r>
              <a:rPr sz="1900" b="0">
                <a:solidFill>
                  <a:srgbClr val="F4F4F5"/>
                </a:solidFill>
                <a:latin typeface="Sora"/>
              </a:rPr>
              <a:t>: both exits on one listing, non-custodial, the waiting itself pays, and physical rails in SEA.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804672"/>
            <a:ext cx="1728216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08 · GTM · 3-MONTH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Distribution we </a:t>
            </a:r>
            <a:r>
              <a:rPr sz="4000" b="1">
                <a:solidFill>
                  <a:srgbClr val="FF734C"/>
                </a:solidFill>
                <a:latin typeface="Sora"/>
              </a:rPr>
              <a:t>already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149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734C"/>
                </a:solidFill>
                <a:latin typeface="Sora"/>
              </a:rPr>
              <a:t>1.  </a:t>
            </a:r>
            <a:r>
              <a:rPr sz="1800" b="1">
                <a:solidFill>
                  <a:srgbClr val="F4F4F5"/>
                </a:solidFill>
                <a:latin typeface="Sora"/>
              </a:rPr>
              <a:t>Activate</a:t>
            </a:r>
            <a:r>
              <a:rPr sz="1800" b="0">
                <a:solidFill>
                  <a:srgbClr val="F4F4F5"/>
                </a:solidFill>
                <a:latin typeface="Sora"/>
              </a:rPr>
              <a:t> the 2,537 registered NextRare users against 256 paying: they become the first sellers and rippers on mainnet.</a:t>
            </a:r>
          </a:p>
          <a:p>
            <a:pPr algn="l">
              <a:lnSpc>
                <a:spcPct val="120000"/>
              </a:lnSpc>
              <a:spcBef>
                <a:spcPts val="810"/>
              </a:spcBef>
            </a:pPr>
            <a:r>
              <a:rPr sz="1800" b="1">
                <a:solidFill>
                  <a:srgbClr val="FF734C"/>
                </a:solidFill>
                <a:latin typeface="Sora"/>
              </a:rPr>
              <a:t>2.  </a:t>
            </a:r>
            <a:r>
              <a:rPr sz="1800" b="1">
                <a:solidFill>
                  <a:srgbClr val="F4F4F5"/>
                </a:solidFill>
                <a:latin typeface="Sora"/>
              </a:rPr>
              <a:t>Penang flagship</a:t>
            </a:r>
            <a:r>
              <a:rPr sz="1800" b="0">
                <a:solidFill>
                  <a:srgbClr val="F4F4F5"/>
                </a:solidFill>
                <a:latin typeface="Sora"/>
              </a:rPr>
              <a:t> opens October 2026 with $300k+ of consignor inventory. The app is the shop’s wallet, so every purchase onboards a user.</a:t>
            </a:r>
          </a:p>
          <a:p>
            <a:pPr algn="l">
              <a:lnSpc>
                <a:spcPct val="120000"/>
              </a:lnSpc>
              <a:spcBef>
                <a:spcPts val="810"/>
              </a:spcBef>
            </a:pPr>
            <a:r>
              <a:rPr sz="1800" b="1">
                <a:solidFill>
                  <a:srgbClr val="FF734C"/>
                </a:solidFill>
                <a:latin typeface="Sora"/>
              </a:rPr>
              <a:t>3.  </a:t>
            </a:r>
            <a:r>
              <a:rPr sz="1800" b="1">
                <a:solidFill>
                  <a:srgbClr val="F4F4F5"/>
                </a:solidFill>
                <a:latin typeface="Sora"/>
              </a:rPr>
              <a:t>Partners</a:t>
            </a:r>
            <a:r>
              <a:rPr sz="1800" b="0">
                <a:solidFill>
                  <a:srgbClr val="F4F4F5"/>
                </a:solidFill>
                <a:latin typeface="Sora"/>
              </a:rPr>
              <a:t>: Speculate and CatchaCard live as white-label channels; Slabz and Discover Collectibles confirmed. Their inventory lists here, their users rip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804672"/>
            <a:ext cx="1728216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09 ·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Why </a:t>
            </a:r>
            <a:r>
              <a:rPr sz="4000" b="1">
                <a:solidFill>
                  <a:srgbClr val="FF734C"/>
                </a:solidFill>
                <a:latin typeface="Sora"/>
              </a:rPr>
              <a:t>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149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1">
                <a:solidFill>
                  <a:srgbClr val="F4F4F5"/>
                </a:solidFill>
                <a:latin typeface="Sora"/>
              </a:rPr>
              <a:t>KC Thee</a:t>
            </a:r>
            <a:r>
              <a:rPr sz="1900" b="0">
                <a:solidFill>
                  <a:srgbClr val="F4F4F5"/>
                </a:solidFill>
                <a:latin typeface="Sora"/>
              </a:rPr>
              <a:t>, CEO: helped scale Binance across Southeast Asia, P2P and futures. Advisor to Virtuals.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1">
                <a:solidFill>
                  <a:srgbClr val="F4F4F5"/>
                </a:solidFill>
                <a:latin typeface="Sora"/>
              </a:rPr>
              <a:t>John Koh</a:t>
            </a:r>
            <a:r>
              <a:rPr sz="1900" b="0">
                <a:solidFill>
                  <a:srgbClr val="F4F4F5"/>
                </a:solidFill>
                <a:latin typeface="Sora"/>
              </a:rPr>
              <a:t>, CTO: former ML engineer at Eligible (YC 2012), Bitcoin since 2011.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1">
                <a:solidFill>
                  <a:srgbClr val="F4F4F5"/>
                </a:solidFill>
                <a:latin typeface="Sora"/>
              </a:rPr>
              <a:t>Huey Lau</a:t>
            </a:r>
            <a:r>
              <a:rPr sz="1900" b="0">
                <a:solidFill>
                  <a:srgbClr val="F4F4F5"/>
                </a:solidFill>
                <a:latin typeface="Sora"/>
              </a:rPr>
              <a:t>, COO: built Discover Collectibles, 130+ merchants across SEA retail.</a:t>
            </a:r>
          </a:p>
          <a:p>
            <a:pPr algn="l">
              <a:lnSpc>
                <a:spcPct val="120000"/>
              </a:lnSpc>
              <a:spcBef>
                <a:spcPts val="855"/>
              </a:spcBef>
            </a:pPr>
            <a:r>
              <a:rPr sz="1900" b="0">
                <a:solidFill>
                  <a:srgbClr val="A1A1AA"/>
                </a:solidFill>
                <a:latin typeface="Sora"/>
              </a:rPr>
              <a:t>•  </a:t>
            </a:r>
            <a:r>
              <a:rPr sz="1900" b="1">
                <a:solidFill>
                  <a:srgbClr val="F4F4F5"/>
                </a:solidFill>
                <a:latin typeface="Sora"/>
              </a:rPr>
              <a:t>Li Ho</a:t>
            </a:r>
            <a:r>
              <a:rPr sz="1900" b="0">
                <a:solidFill>
                  <a:srgbClr val="F4F4F5"/>
                </a:solidFill>
                <a:latin typeface="Sora"/>
              </a:rPr>
              <a:t>, engineering: built the NextRare app and shipped this marketplace in three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25400">
            <a:solidFill>
              <a:srgbClr val="DD2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xtra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804672"/>
            <a:ext cx="1728216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10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4F5"/>
                </a:solidFill>
                <a:latin typeface="Sora"/>
              </a:rPr>
              <a:t>Raising $1M at </a:t>
            </a:r>
            <a:r>
              <a:rPr sz="4000" b="1">
                <a:solidFill>
                  <a:srgbClr val="FF734C"/>
                </a:solidFill>
                <a:latin typeface="Sora"/>
              </a:rPr>
              <a:t>$10M post-money.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3172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9525">
            <a:solidFill>
              <a:srgbClr val="2A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49631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4F5"/>
                </a:solidFill>
                <a:latin typeface="Sora"/>
              </a:rPr>
              <a:t>$1M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108960"/>
            <a:ext cx="2889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raise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9525">
            <a:solidFill>
              <a:srgbClr val="2A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49631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4F5"/>
                </a:solidFill>
                <a:latin typeface="Sora"/>
              </a:rPr>
              <a:t>$10M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108960"/>
            <a:ext cx="2889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post-money 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33172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9525">
            <a:solidFill>
              <a:srgbClr val="2A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2496312"/>
            <a:ext cx="2889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4F5"/>
                </a:solidFill>
                <a:latin typeface="Sora"/>
              </a:rPr>
              <a:t>24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3108960"/>
            <a:ext cx="2889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1A1AA"/>
                </a:solidFill>
                <a:latin typeface="Sora"/>
              </a:rPr>
              <a:t>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A1A1AA"/>
                </a:solidFill>
                <a:latin typeface="Sora"/>
              </a:rPr>
              <a:t>•  </a:t>
            </a:r>
            <a:r>
              <a:rPr sz="1600" b="1">
                <a:solidFill>
                  <a:srgbClr val="F4F4F5"/>
                </a:solidFill>
                <a:latin typeface="Sora"/>
              </a:rPr>
              <a:t>45%</a:t>
            </a:r>
            <a:r>
              <a:rPr sz="1600" b="0">
                <a:solidFill>
                  <a:srgbClr val="F4F4F5"/>
                </a:solidFill>
                <a:latin typeface="Sora"/>
              </a:rPr>
              <a:t> user acquisition: activate the 2,537 registered users, partner and merchant onboarding.</a:t>
            </a:r>
          </a:p>
          <a:p>
            <a:pPr algn="l">
              <a:lnSpc>
                <a:spcPct val="120000"/>
              </a:lnSpc>
              <a:spcBef>
                <a:spcPts val="720"/>
              </a:spcBef>
            </a:pPr>
            <a:r>
              <a:rPr sz="1600" b="0">
                <a:solidFill>
                  <a:srgbClr val="A1A1AA"/>
                </a:solidFill>
                <a:latin typeface="Sora"/>
              </a:rPr>
              <a:t>•  </a:t>
            </a:r>
            <a:r>
              <a:rPr sz="1600" b="1">
                <a:solidFill>
                  <a:srgbClr val="F4F4F5"/>
                </a:solidFill>
                <a:latin typeface="Sora"/>
              </a:rPr>
              <a:t>25%</a:t>
            </a:r>
            <a:r>
              <a:rPr sz="1600" b="0">
                <a:solidFill>
                  <a:srgbClr val="F4F4F5"/>
                </a:solidFill>
                <a:latin typeface="Sora"/>
              </a:rPr>
              <a:t> development: one more engineer, mainnet launch of this marketplace, membership out of beta.</a:t>
            </a:r>
          </a:p>
          <a:p>
            <a:pPr algn="l">
              <a:lnSpc>
                <a:spcPct val="120000"/>
              </a:lnSpc>
              <a:spcBef>
                <a:spcPts val="720"/>
              </a:spcBef>
            </a:pPr>
            <a:r>
              <a:rPr sz="1600" b="0">
                <a:solidFill>
                  <a:srgbClr val="A1A1AA"/>
                </a:solidFill>
                <a:latin typeface="Sora"/>
              </a:rPr>
              <a:t>•  </a:t>
            </a:r>
            <a:r>
              <a:rPr sz="1600" b="1">
                <a:solidFill>
                  <a:srgbClr val="F4F4F5"/>
                </a:solidFill>
                <a:latin typeface="Sora"/>
              </a:rPr>
              <a:t>30%</a:t>
            </a:r>
            <a:r>
              <a:rPr sz="1600" b="0">
                <a:solidFill>
                  <a:srgbClr val="F4F4F5"/>
                </a:solidFill>
                <a:latin typeface="Sora"/>
              </a:rPr>
              <a:t> operations: licensing, on/off-ramp, vaulting and authentication.</a:t>
            </a:r>
          </a:p>
          <a:p>
            <a:pPr algn="l">
              <a:lnSpc>
                <a:spcPct val="120000"/>
              </a:lnSpc>
              <a:spcBef>
                <a:spcPts val="720"/>
              </a:spcBef>
            </a:pPr>
            <a:r>
              <a:rPr sz="1600" b="0">
                <a:solidFill>
                  <a:srgbClr val="A1A1AA"/>
                </a:solidFill>
                <a:latin typeface="Sora"/>
              </a:rPr>
              <a:t>•  </a:t>
            </a:r>
            <a:r>
              <a:rPr sz="1600" b="0">
                <a:solidFill>
                  <a:srgbClr val="F4F4F5"/>
                </a:solidFill>
                <a:latin typeface="Sora"/>
              </a:rPr>
              <a:t>Plus intros: Solana Foundation, Metaplex, Superteam MY collectors and card shops.  Try it now: </a:t>
            </a:r>
            <a:r>
              <a:rPr sz="1600" b="0">
                <a:solidFill>
                  <a:srgbClr val="FF734C"/>
                </a:solidFill>
                <a:latin typeface="Sora"/>
              </a:rPr>
              <a:t>nextrare-marketplace.vercel.app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NextRare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1717A"/>
                </a:solidFill>
                <a:latin typeface="Sora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